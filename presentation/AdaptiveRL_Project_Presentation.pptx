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d95b1e5ba947bc" /><Relationship Type="http://schemas.openxmlformats.org/officeDocument/2006/relationships/extended-properties" Target="/docProps/app.xml" Id="R81cbd405c69a4b5e" /><Relationship Type="http://schemas.openxmlformats.org/officeDocument/2006/relationships/officeDocument" Target="/ppt/presentation.xml" Id="R0fac0c89902147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e0250416014c90"/>
  </p:sldMasterIdLst>
  <p:notesMasterIdLst>
    <p:notesMasterId xmlns:r="http://schemas.openxmlformats.org/officeDocument/2006/relationships" r:id="R30d398f067824b04"/>
  </p:notesMasterIdLst>
  <p:sldIdLst>
    <p:sldId xmlns:r="http://schemas.openxmlformats.org/officeDocument/2006/relationships" id="256" r:id="R36396d88efce4d64"/>
    <p:sldId xmlns:r="http://schemas.openxmlformats.org/officeDocument/2006/relationships" id="257" r:id="Rc550c750e1054251"/>
    <p:sldId xmlns:r="http://schemas.openxmlformats.org/officeDocument/2006/relationships" id="258" r:id="R6b202861171f4f58"/>
    <p:sldId xmlns:r="http://schemas.openxmlformats.org/officeDocument/2006/relationships" id="259" r:id="Rba0caa77363e46cb"/>
    <p:sldId xmlns:r="http://schemas.openxmlformats.org/officeDocument/2006/relationships" id="260" r:id="R1d81132ce4f74926"/>
    <p:sldId xmlns:r="http://schemas.openxmlformats.org/officeDocument/2006/relationships" id="261" r:id="R3b801ec3fb394a8d"/>
    <p:sldId xmlns:r="http://schemas.openxmlformats.org/officeDocument/2006/relationships" id="262" r:id="R7eb4a77426c04e58"/>
    <p:sldId xmlns:r="http://schemas.openxmlformats.org/officeDocument/2006/relationships" id="263" r:id="R45de48ee8c19430a"/>
    <p:sldId xmlns:r="http://schemas.openxmlformats.org/officeDocument/2006/relationships" id="264" r:id="Rea9795f2601d4051"/>
    <p:sldId xmlns:r="http://schemas.openxmlformats.org/officeDocument/2006/relationships" id="265" r:id="R3364b140411846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db2e920da84afc" /><Relationship Type="http://schemas.openxmlformats.org/officeDocument/2006/relationships/slideMaster" Target="/ppt/slideMasters/slideMaster1.xml" Id="Rc4e0250416014c90" /><Relationship Type="http://schemas.openxmlformats.org/officeDocument/2006/relationships/notesMaster" Target="/ppt/notesMasters/notesMaster1.xml" Id="R30d398f067824b04" /><Relationship Type="http://schemas.openxmlformats.org/officeDocument/2006/relationships/presProps" Target="/ppt/presProps.xml" Id="Rf3ca275610c94b33" /><Relationship Type="http://schemas.openxmlformats.org/officeDocument/2006/relationships/tableStyles" Target="/ppt/tableStyles.xml" Id="Rc1eda71c410d4383" /><Relationship Type="http://schemas.openxmlformats.org/officeDocument/2006/relationships/slide" Target="/ppt/slides/slide1.xml" Id="R36396d88efce4d64" /><Relationship Type="http://schemas.openxmlformats.org/officeDocument/2006/relationships/slide" Target="/ppt/slides/slide2.xml" Id="Rc550c750e1054251" /><Relationship Type="http://schemas.openxmlformats.org/officeDocument/2006/relationships/slide" Target="/ppt/slides/slide3.xml" Id="R6b202861171f4f58" /><Relationship Type="http://schemas.openxmlformats.org/officeDocument/2006/relationships/slide" Target="/ppt/slides/slide4.xml" Id="Rba0caa77363e46cb" /><Relationship Type="http://schemas.openxmlformats.org/officeDocument/2006/relationships/slide" Target="/ppt/slides/slide5.xml" Id="R1d81132ce4f74926" /><Relationship Type="http://schemas.openxmlformats.org/officeDocument/2006/relationships/slide" Target="/ppt/slides/slide6.xml" Id="R3b801ec3fb394a8d" /><Relationship Type="http://schemas.openxmlformats.org/officeDocument/2006/relationships/slide" Target="/ppt/slides/slide7.xml" Id="R7eb4a77426c04e58" /><Relationship Type="http://schemas.openxmlformats.org/officeDocument/2006/relationships/slide" Target="/ppt/slides/slide8.xml" Id="R45de48ee8c19430a" /><Relationship Type="http://schemas.openxmlformats.org/officeDocument/2006/relationships/slide" Target="/ppt/slides/slide9.xml" Id="Rea9795f2601d4051" /><Relationship Type="http://schemas.openxmlformats.org/officeDocument/2006/relationships/slide" Target="/ppt/slides/slide10.xml" Id="R3364b140411846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d1a322044d4b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ce6c7d340548cc" /><Relationship Type="http://schemas.openxmlformats.org/officeDocument/2006/relationships/notesMaster" Target="/ppt/notesMasters/notesMaster1.xml" Id="Rb9d9febbd7e442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c4ae5fafb94356" /><Relationship Type="http://schemas.openxmlformats.org/officeDocument/2006/relationships/notesMaster" Target="/ppt/notesMasters/notesMaster1.xml" Id="R9422d22cd04b46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f6a6b8ab144b8c" /><Relationship Type="http://schemas.openxmlformats.org/officeDocument/2006/relationships/notesMaster" Target="/ppt/notesMasters/notesMaster1.xml" Id="R330a75bced004c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f70927b87647d3" /><Relationship Type="http://schemas.openxmlformats.org/officeDocument/2006/relationships/notesMaster" Target="/ppt/notesMasters/notesMaster1.xml" Id="R78d1cf29275840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7f89b30b844b53" /><Relationship Type="http://schemas.openxmlformats.org/officeDocument/2006/relationships/notesMaster" Target="/ppt/notesMasters/notesMaster1.xml" Id="R95f0b1b3005b48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c77eef5b5f45f3" /><Relationship Type="http://schemas.openxmlformats.org/officeDocument/2006/relationships/notesMaster" Target="/ppt/notesMasters/notesMaster1.xml" Id="Rada5cebcdaa4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8ba496ef39445a" /><Relationship Type="http://schemas.openxmlformats.org/officeDocument/2006/relationships/notesMaster" Target="/ppt/notesMasters/notesMaster1.xml" Id="R49ebe17ed2294f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74cdcaf9074936" /><Relationship Type="http://schemas.openxmlformats.org/officeDocument/2006/relationships/notesMaster" Target="/ppt/notesMasters/notesMaster1.xml" Id="Reb36096320d148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1275499e01435e" /><Relationship Type="http://schemas.openxmlformats.org/officeDocument/2006/relationships/notesMaster" Target="/ppt/notesMasters/notesMaster1.xml" Id="R07223671995240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c366cd19a2485d" /><Relationship Type="http://schemas.openxmlformats.org/officeDocument/2006/relationships/notesMaster" Target="/ppt/notesMasters/notesMaster1.xml" Id="R42e895b644eb4b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README.md and docs/PRESENTATION.md. Editable schematic; not a simulation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Limitations; docs/ARCHITECTURE.md. The README describes the core 3-DOF environment; architecture docs also include a 6-DOF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README.md, pyproject.toml. Architecture includes PPO/SAC, 3-DOF/6-DOF/disturbed environments, A* planner, and seeded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Features and System Architecture; docs/ARCHITECTURE.md. Three-DOF action specification applies to standard environment; 6-DOF uses four motor thrusts.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docs/RESULTS.md, Benchmark Summary. Reported on a standard multi-core x86-64 CPU, Python 3.12 and PyTorch 2.2. Random 75% collisions, PPO demo 25k success 40% collisions 35%, PPO standard 50k success 55% collisions 25%.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Evaluation and Benchmark sections; docs/ARCHITECTURE.md. Deterministic seeds and structured JSON/CSV exports.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Measured Benchmark Results, obstacle-density experiment (10 test episodes per condition, seed 42). Values: 4/6/8 obstacles, collision rates 20/40/70%, mean flight 169.0/136.2/88.2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 A* success is geometric feasibility; PPO/SAC use closed-loop physics simulation.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Limitations; docs/ARCHITECTURE.md. Next steps are suggestions, not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CLI and demo instructions; repository LICENSE is MIT. Commands match the project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97637e06644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007b72c1f24b5e" /><Relationship Type="http://schemas.openxmlformats.org/officeDocument/2006/relationships/slideLayout" Target="/ppt/slideLayouts/slideLayout1.xml" Id="R5d0f5631593646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0f5631593646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83e12eed44f23" /><Relationship Type="http://schemas.openxmlformats.org/officeDocument/2006/relationships/notesSlide" Target="/ppt/notesSlides/notesSlide1.xml" Id="Rc962fa6402e642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78f8488014e4a" /><Relationship Type="http://schemas.openxmlformats.org/officeDocument/2006/relationships/notesSlide" Target="/ppt/notesSlides/notesSlide2.xml" Id="R83e3e35b9ad744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c308de0644573" /><Relationship Type="http://schemas.openxmlformats.org/officeDocument/2006/relationships/notesSlide" Target="/ppt/notesSlides/notesSlide3.xml" Id="R2397c54134e346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436274ecc4b3f" /><Relationship Type="http://schemas.openxmlformats.org/officeDocument/2006/relationships/notesSlide" Target="/ppt/notesSlides/notesSlide4.xml" Id="Rd07edfa9643947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6b73551704583" /><Relationship Type="http://schemas.openxmlformats.org/officeDocument/2006/relationships/notesSlide" Target="/ppt/notesSlides/notesSlide5.xml" Id="R58259e70845e41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2b3db1f534d13" /><Relationship Type="http://schemas.openxmlformats.org/officeDocument/2006/relationships/notesSlide" Target="/ppt/notesSlides/notesSlide6.xml" Id="Ree2e5a1f6de74a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36913ad6549f9" /><Relationship Type="http://schemas.openxmlformats.org/officeDocument/2006/relationships/notesSlide" Target="/ppt/notesSlides/notesSlide7.xml" Id="R82fe0af2679949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9d96cb95d4599" /><Relationship Type="http://schemas.openxmlformats.org/officeDocument/2006/relationships/notesSlide" Target="/ppt/notesSlides/notesSlide8.xml" Id="R9ded4fcc51ed40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13828185a4041" /><Relationship Type="http://schemas.openxmlformats.org/officeDocument/2006/relationships/notesSlide" Target="/ppt/notesSlides/notesSlide9.xml" Id="R33c2e9b6ba1c4b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2536379ee418c" /><Relationship Type="http://schemas.openxmlformats.org/officeDocument/2006/relationships/notesSlide" Target="/ppt/notesSlides/notesSlide10.xml" Id="Rd4da5e7c5aaf43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68D3B-1B40-48CF-AA19-E236245D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D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C5183-4E13-45D1-BB34-EDFEA902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3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200" b="1" spc="3">
                <a:solidFill>
                  <a:srgbClr val="5CE1D1"/>
                </a:solidFill>
                <a:latin typeface="Aptos"/>
                <a:ea typeface="Aptos"/>
                <a:cs typeface="Aptos"/>
              </a:rPr>
              <a:t>ADAPTIVERL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921D1-0A98-4276-B83A-F3BB9FFD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Learning to navigate</a:t>
            </a:r>
          </a:p>
          <a:p xmlns:a="http://schemas.openxmlformats.org/drawingml/2006/main">
            <a:pPr>
              <a:defRPr sz="40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3D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77B92-3EAB-47B8-B781-40AB073C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An open-source reinforcement learning project for simulated drone navigation around obstacles.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EC8F8-2D68-4897-91EF-70FCAD49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E1D1"/>
                </a:solidFill>
                <a:latin typeface="Aptos"/>
                <a:ea typeface="Aptos"/>
                <a:cs typeface="Aptos"/>
              </a:rPr>
              <a:t>PPO  ·  Gymnasium  ·  3D simulation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8E771-57FB-40CF-A7C3-805BFB7B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00150"/>
            <a:ext cx="4000500" cy="40957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83A51-E057-4564-9A4C-4B08FF84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763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1" spc="1">
                <a:solidFill>
                  <a:srgbClr val="A9B8CC"/>
                </a:solidFill>
                <a:latin typeface="Aptos"/>
                <a:ea typeface="Aptos"/>
                <a:cs typeface="Aptos"/>
              </a:rPr>
              <a:t>SIMULATED FLIGHT 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839BE-1331-4D21-9B28-28CEB6E7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7DB7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20A50-4040-4A68-99CA-14735F1D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8CC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8D5E5-2B68-470A-92C0-17BB32A6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285B2-FFEA-4938-BF39-753C07D3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053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8CC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6C8D7-AAF2-438F-B53B-6CF86958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09875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77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D048D-4C68-445A-83F8-B87E43C3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528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8CC"/>
                </a:solidFill>
                <a:latin typeface="Aptos"/>
                <a:ea typeface="Aptos"/>
                <a:cs typeface="Aptos"/>
              </a:rPr>
              <a:t>OBSTACLE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939C8-9CED-4FB8-93EC-B11F8C61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9907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777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BD4EA-FCF8-4120-884E-E1FA2CF2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622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8CC"/>
                </a:solidFill>
                <a:latin typeface="Aptos"/>
                <a:ea typeface="Aptos"/>
                <a:cs typeface="Aptos"/>
              </a:rPr>
              <a:t>OBSTACLE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A0D1C-5389-4747-9287-41A0363D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400050" cy="2095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CE1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31DB9-AA89-4E18-A5B8-0F700EA4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66700" cy="2190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CE1D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6177D-C22F-4B3C-B544-716E7E8D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0375"/>
            <a:ext cx="590550" cy="4000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CE1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3900F-A23C-4D7F-9CB5-144D171F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0425"/>
            <a:ext cx="457200" cy="4191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5CE1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F723C-3B5C-4EFF-A8B8-9214E56C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Repository project presentation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7550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77E3F-E783-44F8-8ADC-26D91D97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CE1D1"/>
                </a:solidFill>
                <a:latin typeface="Aptos"/>
                <a:ea typeface="Aptos"/>
                <a:cs typeface="Aptos"/>
              </a:rPr>
              <a:t>ADAPTIVERL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C4A03-A211-4F89-914B-C27A8F8F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navigation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CE0AE-AA1D-4F1F-BE94-046AC422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5F8CA-473F-4FA0-A399-CFA0846C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AdaptiveRL  •  Simulation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DA81F-1564-4B5B-B8F6-27B2D3F2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69988-B644-4A7F-B42A-E0CC5C91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938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Move from a launch point to a target in continuous 3D space while avoiding obstacles and arena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A228F-D6FB-41F0-AFED-E64C25C3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200" b="1" spc="1">
                <a:solidFill>
                  <a:srgbClr val="5CE1D1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498F0-6265-464A-9A5F-80E097D1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Reach the goal region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DACAA-485B-4A58-8127-43DB7A11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Success is measured at a calibrated target radius.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8BB63-1632-4404-88AF-A8DE8237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76500"/>
            <a:ext cx="95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25A11-F6DA-4CE0-9F83-6580F67B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14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rPr sz="1200" b="1" spc="1">
                <a:solidFill>
                  <a:srgbClr val="FFB86B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CA094-81A3-4C66-90EC-D23B6E15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Avoid collisions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701E6-DAAD-4663-ADDB-ABD5E48D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433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Obstacles and arena boundaries are tracked separately.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FBE38-62C0-4B3D-B9D2-4BFA9997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95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410FD-4DFD-43A2-A9E1-CB304AD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7DB7FF"/>
                </a:solidFill>
                <a:latin typeface="Aptos"/>
                <a:ea typeface="Aptos"/>
                <a:cs typeface="Aptos"/>
              </a:defRPr>
            </a:pPr>
            <a:r>
              <a:rPr sz="1200" b="1" spc="1">
                <a:solidFill>
                  <a:srgbClr val="7DB7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00B33-B1BF-4E29-8A8B-EBAD60B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Act under inertia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27E08-1410-4324-B6A1-768CA63D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Acceleration commands change velocity and position over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EB700-84A9-4BE8-83F2-1027E48E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86B"/>
                </a:solidFill>
                <a:latin typeface="Aptos"/>
                <a:ea typeface="Aptos"/>
                <a:cs typeface="Aptos"/>
              </a:rPr>
              <a:t>This is a learning environment for research and education—not a real-world flight controller.</a:t>
            </a:r>
          </a:p>
        </p:txBody>
      </p:sp>
    </p:spTree>
    <p:extLst>
      <p:ext uri="{BB962C8B-B14F-4D97-AF65-F5344CB8AC3E}">
        <p14:creationId xmlns:p14="http://schemas.microsoft.com/office/powerpoint/2010/main" val="1817272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61E801-C324-413C-B03C-653CA10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CE1D1"/>
                </a:solidFill>
                <a:latin typeface="Aptos"/>
                <a:ea typeface="Aptos"/>
                <a:cs typeface="Aptos"/>
              </a:rPr>
              <a:t>ADAPTIVERL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9CA54-AC1E-4474-AB38-CD2476CF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modular simulation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C9AA5-DED0-4F84-84E3-9246A05C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04AF9-224D-4A08-8197-9754062E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AdaptiveRL  •  Simulation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B4593-58D8-43D4-A712-BDA46F3E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552C6-B8D9-4A57-B849-E86CB880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333625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A6442-BC84-433E-8B7C-ABA24DBC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CE1D1"/>
                </a:solidFill>
                <a:latin typeface="Aptos"/>
                <a:ea typeface="Aptos"/>
                <a:cs typeface="Aptos"/>
              </a:rPr>
              <a:t>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949C5-E639-45C1-B7FC-37A11050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Typer CLI</a:t>
            </a:r>
          </a:p>
          <a:p xmlns:a="http://schemas.openxmlformats.org/drawingml/2006/main">
            <a:pPr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Streamlit + Plotly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36E38-ED27-4340-8733-8503CA6B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8C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3A9C7-EF8E-4837-8620-9A07EC60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57400"/>
            <a:ext cx="2333625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C26E4-1373-47C8-BB33-672BD808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669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DB7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DB7FF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6B3DA-63AB-4D2F-8064-5DADFF63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622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PPO and SAC</a:t>
            </a:r>
          </a:p>
          <a:p xmlns:a="http://schemas.openxmlformats.org/drawingml/2006/main">
            <a:pPr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Shared training interface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6F3C4-80CA-4A52-B19D-57069C1D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2895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8C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8F672-040A-447C-86E4-A1B0B937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2333625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85C54-E445-49AF-98E1-1992C0A6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B86B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6B3F0-AA19-4586-B0C3-4E42795C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3-DOF, 6-DOF</a:t>
            </a:r>
          </a:p>
          <a:p xmlns:a="http://schemas.openxmlformats.org/drawingml/2006/main">
            <a:pPr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Disturbance variants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1B31D-2750-40AF-8B59-DE6CF6C6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28950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9B8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E4000-EA59-4202-9FB7-FFB52588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57400"/>
            <a:ext cx="2333625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338B4-CBDE-4573-AB95-DCA0FFA7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669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D9A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7D9A2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8369D-3853-43A2-977B-414AA31C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6225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Metrics, benchmarks</a:t>
            </a:r>
          </a:p>
          <a:p xmlns:a="http://schemas.openxmlformats.org/drawingml/2006/main">
            <a:pPr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Seeded comparisons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82C3B-C2C8-4549-87EC-178342C3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9B8CC"/>
                </a:solidFill>
                <a:latin typeface="Aptos"/>
                <a:ea typeface="Aptos"/>
                <a:cs typeface="Aptos"/>
              </a:rPr>
              <a:t>Configuration and artifacts connect the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2482E-655D-4B70-9E20-F1E324B3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Typed YAML configs  →  checkpoints  →  JSON / CSV reports</a:t>
            </a:r>
          </a:p>
        </p:txBody>
      </p:sp>
    </p:spTree>
    <p:extLst>
      <p:ext uri="{BB962C8B-B14F-4D97-AF65-F5344CB8AC3E}">
        <p14:creationId xmlns:p14="http://schemas.microsoft.com/office/powerpoint/2010/main" val="1731080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A2F30E-A742-480B-BBF5-9B9214D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CE1D1"/>
                </a:solidFill>
                <a:latin typeface="Aptos"/>
                <a:ea typeface="Aptos"/>
                <a:cs typeface="Aptos"/>
              </a:rPr>
              <a:t>ADAPTIVERL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25286-85D4-4404-8CA3-1D3BCD7D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What the agent sees and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4889F-21A9-42B1-85B7-FD3A2BE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D6299-F5D8-4692-99E6-BB6E0C61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AdaptiveRL  •  Simulation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008D5-60F1-41D4-B61A-252BAD1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07D6F-0492-4D49-A2C4-1349AD20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CE1D1"/>
                </a:solidFill>
                <a:latin typeface="Aptos"/>
                <a:ea typeface="Aptos"/>
                <a:cs typeface="Aptos"/>
              </a:rPr>
              <a:t>Observation · 29 values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00F3F-9D6C-4CB3-BF39-7D041E38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Position and velocity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1F908-2B94-462E-BE84-3212D089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95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6 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66292-861D-49F0-9A20-E2B79858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4543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36973-F805-40F1-962C-F69CA9DB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Target and relative vector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2B30F-1029-4F7C-8632-DAC6819A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09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6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49551-A9D5-4455-AF07-FA99543C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4543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69052-2790-4389-B4EA-965CCE59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Target distance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4D23F-E22D-4DB7-986D-8BDC3B09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524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1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9EA1D-553D-4392-8C62-368A9CFF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543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731E9-3F9F-4017-90B3-CBD75D69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Simulated LiDAR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45723-1707-47F2-B5C8-2FD8493A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38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16 rays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2B4E3-3426-4628-9BE0-C37179D7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4543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C1CA0-B32C-47C8-847B-125BEC02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129D1-10AE-427A-8A69-477A78F9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382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DB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DB7FF"/>
                </a:solidFill>
                <a:latin typeface="Aptos"/>
                <a:ea typeface="Aptos"/>
                <a:cs typeface="Aptos"/>
              </a:rPr>
              <a:t>Action · continuous 3D acceleration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116C1-CEAD-41F7-B291-D160A3D0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aₓ, aᵧ, a_z ∈ [−1, 1]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35A76-432C-4197-87FF-6AAE7E29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B86B"/>
                </a:solidFill>
                <a:latin typeface="Aptos"/>
                <a:ea typeface="Aptos"/>
                <a:cs typeface="Aptos"/>
              </a:rPr>
              <a:t>Physics step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9F29A-E484-4C84-915B-FBA7D7D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Velocity and position update with drag damping.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E8FBA-5A07-4A83-ADCB-F4ECF75A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B86B"/>
                </a:solidFill>
                <a:latin typeface="Aptos"/>
                <a:ea typeface="Aptos"/>
                <a:cs typeface="Aptos"/>
              </a:rPr>
              <a:t>Reward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E9C01-575C-48A6-A14D-015773BA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815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Distance progress, time cost, and terminal goal / collision outcomes.</a:t>
            </a:r>
          </a:p>
        </p:txBody>
      </p:sp>
    </p:spTree>
    <p:extLst>
      <p:ext uri="{BB962C8B-B14F-4D97-AF65-F5344CB8AC3E}">
        <p14:creationId xmlns:p14="http://schemas.microsoft.com/office/powerpoint/2010/main" val="1515979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910B79-4B2C-4925-90A0-C513C5ED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CE1D1"/>
                </a:solidFill>
                <a:latin typeface="Aptos"/>
                <a:ea typeface="Aptos"/>
                <a:cs typeface="Aptos"/>
              </a:rPr>
              <a:t>ADAPTIVERL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50FFF-BC79-4572-9E21-CA5A793C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PPO improves over random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223B5-F604-44DE-810F-232BC4E5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34771-4C24-4C2D-BB78-6E979032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AdaptiveRL  •  Simulation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91C55-23BF-44E4-9004-0B35E66F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6288A-B666-408B-BDC6-C62C33F9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Published repository benchmark · 50,000 training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1CE1F-2D0C-4C4F-A5DB-4D474969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00205-37CC-46E2-BE80-9007E7B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Collision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24D86-E01B-4478-9347-F5E9F79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09750"/>
            <a:ext cx="95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49C90-65F6-489D-BEF0-608A275D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09750"/>
            <a:ext cx="95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1C2F6-7D55-4A63-8513-E0E7CAC6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09750"/>
            <a:ext cx="95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4803F-60D1-4B29-A7D2-EFF9B763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09750"/>
            <a:ext cx="95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0C059-31C0-49AB-8B34-B7D44A41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809750"/>
            <a:ext cx="95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45DFF-366B-4F0E-9D8E-49448853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809750"/>
            <a:ext cx="95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3449F-CCC5-44D3-884B-A3C108E1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Random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8D10A-FDC7-413E-B918-79CD7076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81225"/>
            <a:ext cx="381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B8C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FE021-242B-4E31-B4FA-75385F2D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52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FD48F-FAAD-4D58-A465-C7718C59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14775"/>
            <a:ext cx="6286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A9B8C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6E0EB-D997-49BF-89DE-C3666C6F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862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A1F45-9186-45AE-8DA4-0080AA47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09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PPO · 25k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1FAF4-77A7-4E86-B14D-8C34BD9D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38425"/>
            <a:ext cx="3352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7DB7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030F8-16A7-4D68-B5CC-20CFABBA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0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EE6F2-1A1C-4F78-B25B-C22333EE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14825"/>
            <a:ext cx="29337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7DB7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9972B-C196-4C03-B24C-26B07795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286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900F9-812E-4CB9-A14C-0BC53BF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67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PPO · 50k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7ADB08-E0F2-49F0-9021-AD6BFC99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95625"/>
            <a:ext cx="46101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5CE1D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DC3D1F-FFA6-4A4E-934D-3F190637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67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55%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987005-7CFB-42A0-BBBF-65E1D37C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2095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5CE1D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4EABAE-BAF9-4827-B875-279C9B50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86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A4E61B-32E5-465F-93C4-15208853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29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A36249-CA65-4E31-A979-71503222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29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A71843-B251-4CC4-973C-E20C8A6D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E4E737-508F-477B-B02D-111367EA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29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244797-B241-40C9-B28A-D29E3949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29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83899B-B774-4529-85EE-C1231691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029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354716-6485-4528-A8AE-F24B726D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Same reported snapshot: random 0% success / 75% collisions; PPO 25k 40% / 35%; PPO 50k 55% / 25%.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BC419D-7B4E-4D04-BE5E-8B13C384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B86B"/>
                </a:solidFill>
                <a:latin typeface="Aptos"/>
                <a:ea typeface="Aptos"/>
                <a:cs typeface="Aptos"/>
              </a:rPr>
              <a:t>CPU benchmark; results depend on seeds, hardware and software versions.</a:t>
            </a:r>
          </a:p>
        </p:txBody>
      </p:sp>
    </p:spTree>
    <p:extLst>
      <p:ext uri="{BB962C8B-B14F-4D97-AF65-F5344CB8AC3E}">
        <p14:creationId xmlns:p14="http://schemas.microsoft.com/office/powerpoint/2010/main" val="1072470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564FE-1F48-4C95-9EBE-F1160945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CE1D1"/>
                </a:solidFill>
                <a:latin typeface="Aptos"/>
                <a:ea typeface="Aptos"/>
                <a:cs typeface="Aptos"/>
              </a:rPr>
              <a:t>ADAPTIVERL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617D2-209E-4809-A8C0-E3B95FD6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Evaluation measures more than reward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BEF71-BD31-4BEC-8D64-35B573D8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99F4C-386B-4C0D-B876-453FE8CF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AdaptiveRL  •  Simulation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6269A-D121-4B32-8E75-A21F8004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076A0-CB47-4D1F-B4ED-701265C4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Repeated episodes use deterministic seed sets so policies can be compared under matched conditions.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04933-4F7D-455C-B50F-DDD1B631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CE1D1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22573-1839-4A6A-AF97-D2D35E70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2905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Success rate</a:t>
            </a:r>
          </a:p>
          <a:p xmlns:a="http://schemas.openxmlformats.org/drawingml/2006/main">
            <a:pPr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Collision rate</a:t>
            </a:r>
          </a:p>
          <a:p xmlns:a="http://schemas.openxmlformats.org/drawingml/2006/main">
            <a:pPr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Timeouts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EABFD-E095-4715-9EA8-267C319D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DB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DB7FF"/>
                </a:solidFill>
                <a:latin typeface="Aptos"/>
                <a:ea typeface="Aptos"/>
                <a:cs typeface="Aptos"/>
              </a:rPr>
              <a:t>Trajectory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38C9F-2A32-4908-B348-CC774EC9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62275"/>
            <a:ext cx="2905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Path length</a:t>
            </a:r>
          </a:p>
          <a:p xmlns:a="http://schemas.openxmlformats.org/drawingml/2006/main">
            <a:pPr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Path efficiency</a:t>
            </a:r>
          </a:p>
          <a:p xmlns:a="http://schemas.openxmlformats.org/drawingml/2006/main">
            <a:pPr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Goal distance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39020-C2B7-4522-94EC-3BD826A8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B86B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45638-B776-4D88-B0A6-8012AA93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62275"/>
            <a:ext cx="2905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Obstacle clearance</a:t>
            </a:r>
          </a:p>
          <a:p xmlns:a="http://schemas.openxmlformats.org/drawingml/2006/main">
            <a:pPr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Peak velocity</a:t>
            </a:r>
          </a:p>
          <a:p xmlns:a="http://schemas.openxmlformats.org/drawingml/2006/main">
            <a:pPr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Peak acceleration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F4785-DFE7-4A4E-943C-C2C789B1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7D9A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7D9A2"/>
                </a:solidFill>
                <a:latin typeface="Aptos"/>
                <a:ea typeface="Aptos"/>
                <a:cs typeface="Aptos"/>
              </a:rPr>
              <a:t>Controlled experiments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15990-ED4B-4F11-ABCC-D88E3625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Random baseline  ·  obstacle density  ·  training budget  ·  unseen seeds</a:t>
            </a:r>
          </a:p>
        </p:txBody>
      </p:sp>
    </p:spTree>
    <p:extLst>
      <p:ext uri="{BB962C8B-B14F-4D97-AF65-F5344CB8AC3E}">
        <p14:creationId xmlns:p14="http://schemas.microsoft.com/office/powerpoint/2010/main" val="769661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F90FD-EB41-42F4-9980-A74B1EB7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CE1D1"/>
                </a:solidFill>
                <a:latin typeface="Aptos"/>
                <a:ea typeface="Aptos"/>
                <a:cs typeface="Aptos"/>
              </a:rPr>
              <a:t>ADAPTIVERL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E0591-BFC8-4E55-9707-7235A7D7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More difficult environments expose the trade-off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215F7-E00D-4A38-BC16-079061AA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D7452-E847-4461-8B69-D39D021D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AdaptiveRL  •  Simulation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566B7-30F4-440C-A2CE-0DCF51CC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0CA4C-4CBF-4763-B736-F6F8870E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049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Obstacle-density experiment · 10 episodes per condition · seed 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8BA1C-8472-498F-A40D-7F8BB851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9B8CC"/>
                </a:solidFill>
                <a:latin typeface="Aptos"/>
                <a:ea typeface="Aptos"/>
                <a:cs typeface="Aptos"/>
              </a:rPr>
              <a:t>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A00B-D614-4D45-8A59-D388DEBE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9B8CC"/>
                </a:solidFill>
                <a:latin typeface="Aptos"/>
                <a:ea typeface="Aptos"/>
                <a:cs typeface="Aptos"/>
              </a:rPr>
              <a:t>Collision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B3489-8593-4273-B84D-A4AAF4A3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9B8CC"/>
                </a:solidFill>
                <a:latin typeface="Aptos"/>
                <a:ea typeface="Aptos"/>
                <a:cs typeface="Aptos"/>
              </a:rPr>
              <a:t>Mean flight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23F18-A177-438F-8715-5211DED6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4 obstacles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4F81F-B1F6-4269-9F8F-65C24669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7D9A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C3CDF-B066-42C1-8B15-6FB29126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846D5-3A4F-4A9C-B1D9-D889EEB5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169 steps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D5781-25E7-430B-8CD0-0D83AE67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C3EF5-C5BA-4C4C-92B8-D12B7DDE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6 obstacles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620AF-33D4-4727-B5F3-8763EDDC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95675"/>
            <a:ext cx="1485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8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36DAF6-76AC-44B1-A53A-2842C83C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C2906-9EF5-4A2E-9A78-AE71D480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67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136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69ADC2-E2E7-40AF-8FDF-7E660229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0D91A-BD5A-4D85-BF67-C496F9D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8 obstacles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3F78FE-5453-4CC4-8F6B-F69044B3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71975"/>
            <a:ext cx="2600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777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6E448B-835D-42CB-86F8-2B94F212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434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70%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C4DC8-4029-4ECF-BE1F-FBCFD89B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88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423A6F-3048-46C2-8670-97FB37A0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7B3B2-D7DA-437F-B984-00D764EB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Higher obstacle density raised collision rates and shortened average flights in this experiment.</a:t>
            </a:r>
          </a:p>
        </p:txBody>
      </p:sp>
    </p:spTree>
    <p:extLst>
      <p:ext uri="{BB962C8B-B14F-4D97-AF65-F5344CB8AC3E}">
        <p14:creationId xmlns:p14="http://schemas.microsoft.com/office/powerpoint/2010/main" val="1368263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BABFD-4A56-42FE-B90F-7B06395E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CE1D1"/>
                </a:solidFill>
                <a:latin typeface="Aptos"/>
                <a:ea typeface="Aptos"/>
                <a:cs typeface="Aptos"/>
              </a:rPr>
              <a:t>ADAPTIVERL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DABD5-FAD4-4790-86B6-9086C89E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project supports wider comparisons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A7BDD-76DF-42AE-9602-819F8666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82E61-65B8-4FA6-8C7C-32C7BF06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AdaptiveRL  •  Simulation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74F50-C61A-4E5C-BB43-CD4DB703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02819-4EC1-49A2-9909-1BA08462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CE1D1"/>
                </a:solidFill>
                <a:latin typeface="Aptos"/>
                <a:ea typeface="Aptos"/>
                <a:cs typeface="Aptos"/>
              </a:rPr>
              <a:t>A* 3D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71B68-7748-4B41-8188-EB496685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Deterministic lattice-based geometric path planning.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B27CD-1C6C-4CE9-91DA-6E220050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DB7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DB7FF"/>
                </a:solidFill>
                <a:latin typeface="Aptos"/>
                <a:ea typeface="Aptos"/>
                <a:cs typeface="Aptos"/>
              </a:rPr>
              <a:t>SAC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846D4-0746-4A82-97A1-30613058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Off-policy reinforcement learning alongside PPO.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9A8D5-C0B3-48AD-A2B0-D1FFF448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B86B"/>
                </a:solidFill>
                <a:latin typeface="Aptos"/>
                <a:ea typeface="Aptos"/>
                <a:cs typeface="Aptos"/>
              </a:rPr>
              <a:t>6-DOF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34433-FDAB-4BED-91E5-AFA2EE29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Rigid-body quadrotor dynamics with motor-thrust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7BCCF-E3A2-4E8E-97EF-048B2E90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7D9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7D9A2"/>
                </a:solidFill>
                <a:latin typeface="Aptos"/>
                <a:ea typeface="Aptos"/>
                <a:cs typeface="Aptos"/>
              </a:rPr>
              <a:t>Disturbance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63306-3345-4261-8D5F-DFCDFF4D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Wind, stochastic gusts and moving obstacles.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C7878-9C59-4062-B6FE-7B349AB9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These extensions make the repository a platform for testing different control and planning approaches.</a:t>
            </a:r>
          </a:p>
        </p:txBody>
      </p:sp>
    </p:spTree>
    <p:extLst>
      <p:ext uri="{BB962C8B-B14F-4D97-AF65-F5344CB8AC3E}">
        <p14:creationId xmlns:p14="http://schemas.microsoft.com/office/powerpoint/2010/main" val="9983387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AB8B1-B0AD-41FE-8D3E-ED427AC4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CE1D1"/>
                </a:solidFill>
                <a:latin typeface="Aptos"/>
                <a:ea typeface="Aptos"/>
                <a:cs typeface="Aptos"/>
              </a:rPr>
              <a:t>ADAPTIVERL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C4808-0001-4524-80A6-11E1C57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Limits and next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74842-5ED3-4A21-9E9C-AB1F2AF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62A98-1662-4218-8A7D-D52F7CFF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AdaptiveRL  •  Simulation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804E8-2C08-471D-A5A9-54F955C8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755F5-765B-4D8A-8FF7-3EB6DCB8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335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B86B"/>
                </a:solidFill>
                <a:latin typeface="Aptos"/>
                <a:ea typeface="Aptos"/>
                <a:cs typeface="Aptos"/>
              </a:rPr>
              <a:t>Current model limits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14A55-6C3E-4A03-91E4-B8BF6E10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Core drone is a 3-DOF point mass with simplified drag.</a:t>
            </a:r>
          </a:p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LiDAR is analytical; sensor noise and real flight effects are limited.</a:t>
            </a:r>
          </a:p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Simulation results do not establish hardware readiness.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0DE77-6023-479B-92C2-6CC72BE0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524000"/>
            <a:ext cx="952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921BD-FB02-4F63-A76C-58C6B666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335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CE1D1"/>
                </a:solidFill>
                <a:latin typeface="Aptos"/>
                <a:ea typeface="Aptos"/>
                <a:cs typeface="Aptos"/>
              </a:rPr>
              <a:t>Useful 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2D947-15AE-4560-A72F-D95C6F15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4619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Compare PPO, SAC and A* under matched environments.</a:t>
            </a:r>
          </a:p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Report success and safety across held-out seeds.</a:t>
            </a:r>
          </a:p>
          <a:p xmlns:a="http://schemas.openxmlformats.org/drawingml/2006/main">
            <a:pPr>
              <a:defRPr sz="15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Stress-test wind and moving obstacles.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79695-F1F8-4301-A06B-6BEF644D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The repo includes commands to train, evaluate, benchmark and visualize the agent.</a:t>
            </a:r>
          </a:p>
        </p:txBody>
      </p:sp>
    </p:spTree>
    <p:extLst>
      <p:ext uri="{BB962C8B-B14F-4D97-AF65-F5344CB8AC3E}">
        <p14:creationId xmlns:p14="http://schemas.microsoft.com/office/powerpoint/2010/main" val="66436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1EF8A-1003-4D15-93E0-1500260F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975" b="1" spc="2">
                <a:solidFill>
                  <a:srgbClr val="5CE1D1"/>
                </a:solidFill>
                <a:latin typeface="Aptos"/>
                <a:ea typeface="Aptos"/>
                <a:cs typeface="Aptos"/>
              </a:rPr>
              <a:t>ADAPTIVERL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83AB5-D77E-42D2-B981-F5AD3571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Live demonstration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5C8F8-C112-4E5B-A31C-49B1708A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9061C-5A74-474F-925C-950DE6DF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AdaptiveRL  •  Simulation research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4EF9E-ADF1-4540-AB18-BB4DD730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AAA01-89EC-41DA-8F6B-3ECD0864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E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1C1DE-6520-4EB8-8448-963B9C48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14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CEAD4-BB94-4CCA-97DE-3691A3F5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adaptive-rl env inspect drone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B560D-1A74-4791-B32F-638FB6B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2D220-9969-49B9-B374-AF8FF7BD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E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9C7F4-69C4-4979-98EE-2E05305D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260D7-369D-49B2-B71A-999EE15D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adaptive-rl train --config configs/drone_ppo_demo.yaml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1E146-A250-4C01-BDF0-C3CC61AA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F01F1-3991-47F1-A5DB-3DE8E75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E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0A8A7-0FBE-47A8-945B-ABB6BC73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71ED8-5B8E-4414-84DE-7E7A1AF8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adaptive-rl evaluate --model artifacts/models/drone_ppo_demo_final.zip --compare-random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DAFE8-725D-4883-8FF2-1687AF4B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6E73C-E93C-4376-B44B-059894B0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E1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E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D7C7E-4B62-403C-9A37-2C90AA90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14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Visualize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EE449-D201-46A0-87BF-42B38285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148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adaptive-rl gui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EB084-3D94-47DB-BE10-2852E2BC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B8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B86B"/>
                </a:solidFill>
                <a:latin typeface="Aptos"/>
                <a:ea typeface="Aptos"/>
                <a:cs typeface="Aptos"/>
              </a:rPr>
              <a:t>AdaptiveRL is MIT licensed and accepts community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897036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2026-09-29T09:12:22.4280000Z</dcterms:created>
  <dcterms:modified xsi:type="dcterms:W3CDTF">2026-09-29T09:12:22.4280000Z</dcterms:modified>
</coreProperties>
</file>